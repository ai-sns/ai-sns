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3" Type="http://schemas.openxmlformats.org/officeDocument/2006/relationships/slideMaster" Target="slideMasters/slideMaster2.xml" /><Relationship Id="rId2" Type="http://schemas.openxmlformats.org/officeDocument/2006/relationships/theme" Target="theme/theme1.xml" /><Relationship Id="rId18" Type="http://schemas.openxmlformats.org/officeDocument/2006/relationships/tableStyles" Target="tableStyles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image" Target="../media/image2.png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image" Target="../media/image3.png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image" Target="../media/image4.png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image" Target="../media/image5.png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3678629" y="2389540"/>
            <a:ext cx="5236771" cy="884190"/>
          </a:xfrm>
        </p:spPr>
        <p:txBody>
          <a:bodyPr anchor="b">
            <a:normAutofit/>
          </a:bodyPr>
          <a:lstStyle>
            <a:lvl1pPr algn="ctr">
              <a:defRPr sz="33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678629" y="3403658"/>
            <a:ext cx="5236771" cy="351914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23656" y="2077810"/>
            <a:ext cx="3799136" cy="478355"/>
          </a:xfrm>
        </p:spPr>
        <p:txBody>
          <a:bodyPr anchor="t" anchorCtr="0">
            <a:normAutofit/>
          </a:bodyPr>
          <a:lstStyle>
            <a:lvl1pPr algn="r">
              <a:defRPr sz="2100" b="0">
                <a:solidFill>
                  <a:schemeClr val="bg2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8650" y="1094015"/>
            <a:ext cx="3886200" cy="26321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1094015"/>
            <a:ext cx="3886200" cy="26321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273844"/>
            <a:ext cx="7886700" cy="708422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9841" y="1077992"/>
            <a:ext cx="3868340" cy="38504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9841" y="1547336"/>
            <a:ext cx="3868340" cy="21788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29150" y="1077992"/>
            <a:ext cx="3887391" cy="38504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29150" y="1547336"/>
            <a:ext cx="3887391" cy="21788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9019" y="342900"/>
            <a:ext cx="7525963" cy="538843"/>
          </a:xfrm>
        </p:spPr>
        <p:txBody>
          <a:bodyPr anchor="ctr">
            <a:normAutofit/>
          </a:bodyPr>
          <a:lstStyle>
            <a:lvl1pPr algn="ctr">
              <a:defRPr sz="21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  <p:custDataLst>
              <p:tags r:id="rId3"/>
            </p:custDataLst>
          </p:nvPr>
        </p:nvSpPr>
        <p:spPr>
          <a:xfrm>
            <a:off x="812347" y="898072"/>
            <a:ext cx="7519307" cy="2188029"/>
          </a:xfrm>
        </p:spPr>
        <p:txBody>
          <a:bodyPr anchor="ctr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1154430" y="3216730"/>
            <a:ext cx="7177224" cy="1485220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723415" y="273844"/>
            <a:ext cx="791936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094015" y="273844"/>
            <a:ext cx="6498771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8200" y="306506"/>
            <a:ext cx="7887600" cy="43578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727008" y="1280160"/>
            <a:ext cx="3730943" cy="1223010"/>
          </a:xfrm>
        </p:spPr>
        <p:txBody>
          <a:bodyPr>
            <a:noAutofit/>
          </a:bodyPr>
          <a:lstStyle>
            <a:lvl1pPr algn="ctr">
              <a:defRPr sz="5400"/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 rot="19394674">
            <a:off x="4902560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椭圆 6"/>
          <p:cNvSpPr/>
          <p:nvPr userDrawn="1">
            <p:custDataLst>
              <p:tags r:id="rId7"/>
            </p:custDataLst>
          </p:nvPr>
        </p:nvSpPr>
        <p:spPr>
          <a:xfrm>
            <a:off x="4504404" y="2560916"/>
            <a:ext cx="782241" cy="78224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 rot="19394674">
            <a:off x="3907499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" name="椭圆 8"/>
          <p:cNvSpPr/>
          <p:nvPr userDrawn="1">
            <p:custDataLst>
              <p:tags r:id="rId9"/>
            </p:custDataLst>
          </p:nvPr>
        </p:nvSpPr>
        <p:spPr>
          <a:xfrm>
            <a:off x="3508744" y="2560916"/>
            <a:ext cx="782241" cy="78224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 userDrawn="1">
            <p:custDataLst>
              <p:tags r:id="rId10"/>
            </p:custDataLst>
          </p:nvPr>
        </p:nvSpPr>
        <p:spPr>
          <a:xfrm rot="19394674">
            <a:off x="2912437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>
            <p:custDataLst>
              <p:tags r:id="rId11"/>
            </p:custDataLst>
          </p:nvPr>
        </p:nvSpPr>
        <p:spPr>
          <a:xfrm>
            <a:off x="2513977" y="2560916"/>
            <a:ext cx="782241" cy="78224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H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>
            <p:custDataLst>
              <p:tags r:id="rId12"/>
            </p:custDataLst>
          </p:nvPr>
        </p:nvSpPr>
        <p:spPr>
          <a:xfrm rot="19394674">
            <a:off x="1917375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>
            <p:custDataLst>
              <p:tags r:id="rId13"/>
            </p:custDataLst>
          </p:nvPr>
        </p:nvSpPr>
        <p:spPr>
          <a:xfrm>
            <a:off x="1519210" y="2560916"/>
            <a:ext cx="782241" cy="78224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4" name="矩形 13"/>
          <p:cNvSpPr/>
          <p:nvPr userDrawn="1">
            <p:custDataLst>
              <p:tags r:id="rId14"/>
            </p:custDataLst>
          </p:nvPr>
        </p:nvSpPr>
        <p:spPr>
          <a:xfrm rot="19394674">
            <a:off x="5898820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5" name="椭圆 14"/>
          <p:cNvSpPr/>
          <p:nvPr userDrawn="1">
            <p:custDataLst>
              <p:tags r:id="rId15"/>
            </p:custDataLst>
          </p:nvPr>
        </p:nvSpPr>
        <p:spPr>
          <a:xfrm>
            <a:off x="5500064" y="2560916"/>
            <a:ext cx="782241" cy="78224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K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16"/>
            </p:custDataLst>
          </p:nvPr>
        </p:nvSpPr>
        <p:spPr>
          <a:xfrm rot="19394674">
            <a:off x="6893881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7" name="椭圆 16"/>
          <p:cNvSpPr/>
          <p:nvPr userDrawn="1">
            <p:custDataLst>
              <p:tags r:id="rId17"/>
            </p:custDataLst>
          </p:nvPr>
        </p:nvSpPr>
        <p:spPr>
          <a:xfrm>
            <a:off x="6495725" y="2560916"/>
            <a:ext cx="782241" cy="78224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8060"/>
            <a:ext cx="9144000" cy="1655441"/>
          </a:xfrm>
          <a:prstGeom prst="rect">
            <a:avLst/>
          </a:prstGeom>
        </p:spPr>
      </p:pic>
      <p:grpSp>
        <p:nvGrpSpPr>
          <p:cNvPr id="9" name="组合 8"/>
          <p:cNvGrpSpPr/>
          <p:nvPr userDrawn="1">
            <p:custDataLst>
              <p:tags r:id="rId4"/>
            </p:custDataLst>
          </p:nvPr>
        </p:nvGrpSpPr>
        <p:grpSpPr>
          <a:xfrm>
            <a:off x="8008143" y="190590"/>
            <a:ext cx="655493" cy="776855"/>
            <a:chOff x="10500195" y="236222"/>
            <a:chExt cx="1041796" cy="1234679"/>
          </a:xfrm>
        </p:grpSpPr>
        <p:sp>
          <p:nvSpPr>
            <p:cNvPr id="7" name="MH_Others_1"/>
            <p:cNvSpPr/>
            <p:nvPr userDrawn="1">
              <p:custDataLst>
                <p:tags r:id="rId5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8" name="MH_Others_2"/>
            <p:cNvSpPr/>
            <p:nvPr userDrawn="1">
              <p:custDataLst>
                <p:tags r:id="rId6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19600" y="228150"/>
            <a:ext cx="8704800" cy="468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8060"/>
            <a:ext cx="9144000" cy="16554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61200" y="936900"/>
            <a:ext cx="7219800" cy="542700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960835" y="1622700"/>
            <a:ext cx="7219950" cy="2583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617595" cy="514969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37400" y="577800"/>
            <a:ext cx="2970000" cy="661500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440100" y="1323000"/>
            <a:ext cx="2967300" cy="3069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3825900" y="577454"/>
            <a:ext cx="4860000" cy="381595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4264819"/>
            <a:ext cx="1312365" cy="8786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199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>
            <a:off x="214312" y="219165"/>
            <a:ext cx="655493" cy="776855"/>
            <a:chOff x="10500195" y="236222"/>
            <a:chExt cx="1041796" cy="1234679"/>
          </a:xfrm>
        </p:grpSpPr>
        <p:sp>
          <p:nvSpPr>
            <p:cNvPr id="12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 flipH="1">
            <a:off x="7831635" y="4264819"/>
            <a:ext cx="1312365" cy="87868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459000" y="585900"/>
            <a:ext cx="8232300" cy="469800"/>
          </a:xfrm>
        </p:spPr>
        <p:txBody>
          <a:bodyPr anchor="ctr"/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459000" y="1244700"/>
            <a:ext cx="8231981" cy="621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459581" y="2106000"/>
            <a:ext cx="8224200" cy="25731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3771901"/>
            <a:ext cx="9144000" cy="13715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10" name="组合 9"/>
          <p:cNvGrpSpPr/>
          <p:nvPr userDrawn="1">
            <p:custDataLst>
              <p:tags r:id="rId3"/>
            </p:custDataLst>
          </p:nvPr>
        </p:nvGrpSpPr>
        <p:grpSpPr>
          <a:xfrm>
            <a:off x="214312" y="219165"/>
            <a:ext cx="655493" cy="776855"/>
            <a:chOff x="10500195" y="236222"/>
            <a:chExt cx="1041796" cy="1234679"/>
          </a:xfrm>
        </p:grpSpPr>
        <p:sp>
          <p:nvSpPr>
            <p:cNvPr id="11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258174" y="4276815"/>
            <a:ext cx="655493" cy="776855"/>
            <a:chOff x="10500195" y="236222"/>
            <a:chExt cx="1041796" cy="1234679"/>
          </a:xfrm>
        </p:grpSpPr>
        <p:sp>
          <p:nvSpPr>
            <p:cNvPr id="14" name="MH_Others_1"/>
            <p:cNvSpPr/>
            <p:nvPr userDrawn="1">
              <p:custDataLst>
                <p:tags r:id="rId7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MH_Others_2"/>
            <p:cNvSpPr/>
            <p:nvPr userDrawn="1">
              <p:custDataLst>
                <p:tags r:id="rId8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3600" y="502200"/>
            <a:ext cx="8232300" cy="423900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453628" y="1260900"/>
            <a:ext cx="8243100" cy="2408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445500" y="3885300"/>
            <a:ext cx="8251200" cy="7587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flipH="1">
            <a:off x="7622381" y="4124716"/>
            <a:ext cx="1521619" cy="10187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34700" y="178200"/>
            <a:ext cx="8278200" cy="33147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434700" y="1247400"/>
            <a:ext cx="40068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4681800" y="1247400"/>
            <a:ext cx="40257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429300" y="3612600"/>
            <a:ext cx="40068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4689900" y="3609900"/>
            <a:ext cx="40257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719418"/>
            <a:ext cx="9144000" cy="370466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214312" y="219165"/>
            <a:ext cx="655493" cy="776855"/>
            <a:chOff x="10500195" y="236222"/>
            <a:chExt cx="1041796" cy="1234679"/>
          </a:xfrm>
        </p:grpSpPr>
        <p:sp>
          <p:nvSpPr>
            <p:cNvPr id="9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57975" y="3479006"/>
            <a:ext cx="2486025" cy="166449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142100" y="1004400"/>
            <a:ext cx="6858000" cy="1790100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1141810" y="2897100"/>
            <a:ext cx="6858000" cy="1242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9" Target="../slideLayouts/slideLayout9.xml" Type="http://schemas.openxmlformats.org/officeDocument/2006/relationships/slideLayout" /><Relationship Id="rId8" Target="../slideLayouts/slideLayout8.xml" Type="http://schemas.openxmlformats.org/officeDocument/2006/relationships/slideLayout" /><Relationship Id="rId7" Target="../slideLayouts/slideLayout7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3" Target="../slideLayouts/slideLayout3.xml" Type="http://schemas.openxmlformats.org/officeDocument/2006/relationships/slideLayout" /><Relationship Id="rId2" Target="../slideLayouts/slideLayout2.xml" Type="http://schemas.openxmlformats.org/officeDocument/2006/relationships/slideLayout" /><Relationship Id="rId12" Target="../theme/theme1.xml" Type="http://schemas.openxmlformats.org/officeDocument/2006/relationships/theme" /><Relationship Id="rId11" Target="../slideLayouts/slideLayout11.xml" Type="http://schemas.openxmlformats.org/officeDocument/2006/relationships/slideLayout" /><Relationship Id="rId10" Target="../slideLayouts/slideLayout10.xml" Type="http://schemas.openxmlformats.org/officeDocument/2006/relationships/slideLayout" /><Relationship Id="rId1" Target="../slideLayouts/slideLayout1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panose="020B060402020202020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panose="020B0604020202020204"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panose="020B060402020202020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panose="020B0604020202020204"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panose="020B0604020202020204"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panose="020B060402020202020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panose="020B060402020202020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panose="020B060402020202020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panose="020B060402020202020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PPT内容：AIGC 产品方案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1: 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产品名称：AIGC智能创作助手</a:t>
            </a:r>
          </a:p>
          <a:p>
            <a:pPr lvl="0"/>
            <a:r>
              <a:rPr/>
              <a:t>版本号：v1.0</a:t>
            </a:r>
          </a:p>
          <a:p>
            <a:pPr lvl="0"/>
            <a:r>
              <a:rPr/>
              <a:t>日期：2023年10月</a:t>
            </a:r>
          </a:p>
          <a:p>
            <a:pPr lvl="0"/>
            <a:r>
              <a:rPr/>
              <a:t>演讲者姓名和职位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2: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背景与市场分析</a:t>
            </a:r>
          </a:p>
          <a:p>
            <a:pPr lvl="0" indent="-342900" marL="342900">
              <a:buAutoNum type="arabicPeriod"/>
            </a:pPr>
            <a:r>
              <a:rPr/>
              <a:t>产品定位</a:t>
            </a:r>
          </a:p>
          <a:p>
            <a:pPr lvl="0" indent="-342900" marL="342900">
              <a:buAutoNum type="arabicPeriod"/>
            </a:pPr>
            <a:r>
              <a:rPr/>
              <a:t>产品功能</a:t>
            </a:r>
          </a:p>
          <a:p>
            <a:pPr lvl="0" indent="-342900" marL="342900">
              <a:buAutoNum type="arabicPeriod"/>
            </a:pPr>
            <a:r>
              <a:rPr/>
              <a:t>技术架构</a:t>
            </a:r>
          </a:p>
          <a:p>
            <a:pPr lvl="0" indent="-342900" marL="342900">
              <a:buAutoNum type="arabicPeriod"/>
            </a:pPr>
            <a:r>
              <a:rPr/>
              <a:t>竞争分析</a:t>
            </a:r>
          </a:p>
          <a:p>
            <a:pPr lvl="0" indent="-342900" marL="342900">
              <a:buAutoNum type="arabicPeriod"/>
            </a:pPr>
            <a:r>
              <a:rPr/>
              <a:t>商业模式</a:t>
            </a:r>
          </a:p>
          <a:p>
            <a:pPr lvl="0" indent="-342900" marL="342900">
              <a:buAutoNum type="arabicPeriod"/>
            </a:pPr>
            <a:r>
              <a:rPr/>
              <a:t>推广策略</a:t>
            </a:r>
          </a:p>
          <a:p>
            <a:pPr lvl="0" indent="-342900" marL="342900">
              <a:buAutoNum type="arabicPeriod"/>
            </a:pPr>
            <a:r>
              <a:rPr/>
              <a:t>项目计划与时间表</a:t>
            </a:r>
          </a:p>
          <a:p>
            <a:pPr lvl="0" indent="-342900" marL="342900">
              <a:buAutoNum type="arabicPeriod"/>
            </a:pPr>
            <a:r>
              <a:rPr/>
              <a:t>Q&amp;A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3: 背景与市场分析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内容创作行业的现状与挑战</a:t>
            </a:r>
          </a:p>
          <a:p>
            <a:pPr lvl="1"/>
            <a:r>
              <a:rPr/>
              <a:t>内容产出速度慢</a:t>
            </a:r>
          </a:p>
          <a:p>
            <a:pPr lvl="1"/>
            <a:r>
              <a:rPr/>
              <a:t>创作成本高</a:t>
            </a:r>
          </a:p>
          <a:p>
            <a:pPr lvl="1"/>
            <a:r>
              <a:rPr/>
              <a:t>创作质量参差不齐</a:t>
            </a:r>
          </a:p>
          <a:p>
            <a:pPr lvl="0"/>
            <a:r>
              <a:rPr/>
              <a:t>市场需求</a:t>
            </a:r>
          </a:p>
          <a:p>
            <a:pPr lvl="1"/>
            <a:r>
              <a:rPr/>
              <a:t>企业、个人用户对高质量内容的需求增长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4: 产品定位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目标用户：</a:t>
            </a:r>
          </a:p>
          <a:p>
            <a:pPr lvl="1"/>
            <a:r>
              <a:rPr/>
              <a:t>企业：市场营销、内容创作团队</a:t>
            </a:r>
          </a:p>
          <a:p>
            <a:pPr lvl="1"/>
            <a:r>
              <a:rPr/>
              <a:t>个人用户：博主、自由撰稿人</a:t>
            </a:r>
          </a:p>
          <a:p>
            <a:pPr lvl="0"/>
            <a:r>
              <a:rPr/>
              <a:t>产品价值：</a:t>
            </a:r>
          </a:p>
          <a:p>
            <a:pPr lvl="1"/>
            <a:r>
              <a:rPr/>
              <a:t>提高创作效率</a:t>
            </a:r>
          </a:p>
          <a:p>
            <a:pPr lvl="1"/>
            <a:r>
              <a:rPr/>
              <a:t>降低创作成本</a:t>
            </a:r>
          </a:p>
          <a:p>
            <a:pPr lvl="1"/>
            <a:r>
              <a:rPr/>
              <a:t>提供创作灵感与支持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5: 产品功能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智能写作助手</a:t>
            </a:r>
          </a:p>
          <a:p>
            <a:pPr lvl="1"/>
            <a:r>
              <a:rPr/>
              <a:t>自动生成文章、博客、社交媒体内容</a:t>
            </a:r>
          </a:p>
          <a:p>
            <a:pPr lvl="0"/>
            <a:r>
              <a:rPr/>
              <a:t>语法与风格检查</a:t>
            </a:r>
          </a:p>
          <a:p>
            <a:pPr lvl="1"/>
            <a:r>
              <a:rPr/>
              <a:t>提升文本的可读性与专业性</a:t>
            </a:r>
          </a:p>
          <a:p>
            <a:pPr lvl="0"/>
            <a:r>
              <a:rPr/>
              <a:t>创意建议</a:t>
            </a:r>
          </a:p>
          <a:p>
            <a:pPr lvl="1"/>
            <a:r>
              <a:rPr/>
              <a:t>提供主题、标题、段落结构建议</a:t>
            </a:r>
          </a:p>
          <a:p>
            <a:pPr lvl="0"/>
            <a:r>
              <a:rPr/>
              <a:t>多语言支持</a:t>
            </a:r>
          </a:p>
          <a:p>
            <a:pPr lvl="1"/>
            <a:r>
              <a:rPr/>
              <a:t>支持多种语言的内容创作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6: 技术架构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AI模型：</a:t>
            </a:r>
          </a:p>
          <a:p>
            <a:pPr lvl="1"/>
            <a:r>
              <a:rPr/>
              <a:t>基于Transformer的语言模型（如GPT-4）</a:t>
            </a:r>
          </a:p>
          <a:p>
            <a:pPr lvl="0"/>
            <a:r>
              <a:rPr/>
              <a:t>数据源：</a:t>
            </a:r>
          </a:p>
          <a:p>
            <a:pPr lvl="1"/>
            <a:r>
              <a:rPr/>
              <a:t>大型文本数据集</a:t>
            </a:r>
          </a:p>
          <a:p>
            <a:pPr lvl="0"/>
            <a:r>
              <a:rPr/>
              <a:t>用户界面：</a:t>
            </a:r>
          </a:p>
          <a:p>
            <a:pPr lvl="1"/>
            <a:r>
              <a:rPr/>
              <a:t>Web和移动端应用</a:t>
            </a:r>
          </a:p>
          <a:p>
            <a:pPr lvl="0"/>
            <a:r>
              <a:rPr/>
              <a:t>API接口：</a:t>
            </a:r>
          </a:p>
          <a:p>
            <a:pPr lvl="1"/>
            <a:r>
              <a:rPr/>
              <a:t>与其他软件工具集成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7: 竞争分析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主要竞争对手：</a:t>
            </a:r>
          </a:p>
          <a:p>
            <a:pPr lvl="1"/>
            <a:r>
              <a:rPr/>
              <a:t>Copy.ai</a:t>
            </a:r>
          </a:p>
          <a:p>
            <a:pPr lvl="1"/>
            <a:r>
              <a:rPr/>
              <a:t>Jasper.ai</a:t>
            </a:r>
          </a:p>
          <a:p>
            <a:pPr lvl="1"/>
            <a:r>
              <a:rPr/>
              <a:t>Writesonic</a:t>
            </a:r>
          </a:p>
          <a:p>
            <a:pPr lvl="0"/>
            <a:r>
              <a:rPr/>
              <a:t>我们的优势：</a:t>
            </a:r>
          </a:p>
          <a:p>
            <a:pPr lvl="1"/>
            <a:r>
              <a:rPr/>
              <a:t>更高的生成质量</a:t>
            </a:r>
          </a:p>
          <a:p>
            <a:pPr lvl="1"/>
            <a:r>
              <a:rPr/>
              <a:t>更丰富的功能模块</a:t>
            </a:r>
          </a:p>
          <a:p>
            <a:pPr lvl="1"/>
            <a:r>
              <a:rPr/>
              <a:t>更好的用户体验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8: 商业模式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收费模式：</a:t>
            </a:r>
          </a:p>
          <a:p>
            <a:pPr lvl="1"/>
            <a:r>
              <a:rPr/>
              <a:t>免费试用 + 订阅制（基础版、高级版）</a:t>
            </a:r>
          </a:p>
          <a:p>
            <a:pPr lvl="0"/>
            <a:r>
              <a:rPr/>
              <a:t>目标收入：</a:t>
            </a:r>
          </a:p>
          <a:p>
            <a:pPr lvl="1"/>
            <a:r>
              <a:rPr/>
              <a:t>第一年度：XX万元</a:t>
            </a:r>
          </a:p>
          <a:p>
            <a:pPr lvl="1"/>
            <a:r>
              <a:rPr/>
              <a:t>第二年度：XX万元</a:t>
            </a:r>
          </a:p>
          <a:p>
            <a:pPr lvl="0"/>
            <a:r>
              <a:rPr/>
              <a:t>合作模式：</a:t>
            </a:r>
          </a:p>
          <a:p>
            <a:pPr lvl="1"/>
            <a:r>
              <a:rPr/>
              <a:t>与企业合作，提供定制化解决方案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9: 推广策略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数字营销：</a:t>
            </a:r>
          </a:p>
          <a:p>
            <a:pPr lvl="1"/>
            <a:r>
              <a:rPr/>
              <a:t>SEO优化、内容营销</a:t>
            </a:r>
          </a:p>
          <a:p>
            <a:pPr lvl="1"/>
            <a:r>
              <a:rPr/>
              <a:t>社交媒体广告</a:t>
            </a:r>
          </a:p>
          <a:p>
            <a:pPr lvl="0"/>
            <a:r>
              <a:rPr/>
              <a:t>合作推广：</a:t>
            </a:r>
          </a:p>
          <a:p>
            <a:pPr lvl="1"/>
            <a:r>
              <a:rPr/>
              <a:t>与内容创作平台合作</a:t>
            </a:r>
          </a:p>
          <a:p>
            <a:pPr lvl="1"/>
            <a:r>
              <a:rPr/>
              <a:t>与行业博主、影响者合作</a:t>
            </a:r>
          </a:p>
          <a:p>
            <a:pPr lvl="0"/>
            <a:r>
              <a:rPr/>
              <a:t>用户口碑：</a:t>
            </a:r>
          </a:p>
          <a:p>
            <a:pPr lvl="1"/>
            <a:r>
              <a:rPr/>
              <a:t>优惠活动与推荐奖励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10: 项目计划与时间表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需求调研（2023年11月）</a:t>
            </a:r>
          </a:p>
          <a:p>
            <a:pPr lvl="0"/>
            <a:r>
              <a:rPr/>
              <a:t>产品开发（2024年1月至6月）</a:t>
            </a:r>
          </a:p>
          <a:p>
            <a:pPr lvl="0"/>
            <a:r>
              <a:rPr/>
              <a:t>内部测试（2024年7月）</a:t>
            </a:r>
          </a:p>
          <a:p>
            <a:pPr lvl="0"/>
            <a:r>
              <a:rPr/>
              <a:t>上线发布（2024年8月）</a:t>
            </a:r>
          </a:p>
          <a:p>
            <a:pPr lvl="0"/>
            <a:r>
              <a:rPr/>
              <a:t>市场推广（2024年9月）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11: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感谢聆听，欢迎提问！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160428">
      <a:dk1>
        <a:srgbClr val="000000"/>
      </a:dk1>
      <a:lt1>
        <a:srgbClr val="FFFFFF"/>
      </a:lt1>
      <a:dk2>
        <a:srgbClr val="F5F8E1"/>
      </a:dk2>
      <a:lt2>
        <a:srgbClr val="FFFFFF"/>
      </a:lt2>
      <a:accent1>
        <a:srgbClr val="87A452"/>
      </a:accent1>
      <a:accent2>
        <a:srgbClr val="76AC73"/>
      </a:accent2>
      <a:accent3>
        <a:srgbClr val="63B48D"/>
      </a:accent3>
      <a:accent4>
        <a:srgbClr val="80C39E"/>
      </a:accent4>
      <a:accent5>
        <a:srgbClr val="B8D6AA"/>
      </a:accent5>
      <a:accent6>
        <a:srgbClr val="E2E8B5"/>
      </a:accent6>
      <a:hlink>
        <a:srgbClr val="009999"/>
      </a:hlink>
      <a:folHlink>
        <a:srgbClr val="99CC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WPS 演示</Application>
  <PresentationFormat/>
  <Paragraphs>93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黑体</vt:lpstr>
      <vt:lpstr>Wingdings 2</vt:lpstr>
      <vt:lpstr>幼圆</vt:lpstr>
      <vt:lpstr>Office Theme</vt:lpstr>
      <vt:lpstr>2_Office 主题​​</vt:lpstr>
      <vt:lpstr>市场推广计划</vt:lpstr>
      <vt:lpstr>PowerPoint 演示文稿</vt:lpstr>
      <vt:lpstr>1. 市场分析</vt:lpstr>
      <vt:lpstr>2. 目标受众</vt:lpstr>
      <vt:lpstr>3. 推广策略</vt:lpstr>
      <vt:lpstr>4. 实施计划</vt:lpstr>
      <vt:lpstr>5. 预算</vt:lpstr>
      <vt:lpstr>6. 结论</vt:lpstr>
      <vt:lpstr>感谢您的关注！如有任何问题，请随时提出。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2025-03-21T04:00:03Z</dcterms:created>
  <dcterms:modified xsi:type="dcterms:W3CDTF">2025-03-21T04:00:03Z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