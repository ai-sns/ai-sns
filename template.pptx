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image" Target="../media/image2.png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image" Target="../media/image3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image" Target="../media/image4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image" Target="../media/image5.png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678629" y="2389540"/>
            <a:ext cx="5236771" cy="884190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678629" y="3403658"/>
            <a:ext cx="5236771" cy="351914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23656" y="2077810"/>
            <a:ext cx="3799136" cy="478355"/>
          </a:xfrm>
        </p:spPr>
        <p:txBody>
          <a:bodyPr anchor="t" anchorCtr="0">
            <a:normAutofit/>
          </a:bodyPr>
          <a:lstStyle>
            <a:lvl1pPr algn="r">
              <a:defRPr sz="2100" b="0">
                <a:solidFill>
                  <a:schemeClr val="bg2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0" y="1094015"/>
            <a:ext cx="3886200" cy="26321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094015"/>
            <a:ext cx="3886200" cy="26321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3844"/>
            <a:ext cx="7886700" cy="70842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9841" y="1077992"/>
            <a:ext cx="3868340" cy="3850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9841" y="1547336"/>
            <a:ext cx="3868340" cy="21788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077992"/>
            <a:ext cx="3887391" cy="38504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547336"/>
            <a:ext cx="3887391" cy="21788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9019" y="342900"/>
            <a:ext cx="7525963" cy="538843"/>
          </a:xfrm>
        </p:spPr>
        <p:txBody>
          <a:bodyPr anchor="ctr">
            <a:normAutofit/>
          </a:bodyPr>
          <a:lstStyle>
            <a:lvl1pPr algn="ctr">
              <a:defRPr sz="21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812347" y="898072"/>
            <a:ext cx="7519307" cy="2188029"/>
          </a:xfrm>
        </p:spPr>
        <p:txBody>
          <a:bodyPr anchor="ctr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1154430" y="3216730"/>
            <a:ext cx="7177224" cy="1485220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723415" y="273844"/>
            <a:ext cx="79193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94015" y="273844"/>
            <a:ext cx="6498771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200" y="306506"/>
            <a:ext cx="7887600" cy="43578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727008" y="1280160"/>
            <a:ext cx="3730943" cy="1223010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 rot="19394674">
            <a:off x="4902560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椭圆 6"/>
          <p:cNvSpPr/>
          <p:nvPr userDrawn="1">
            <p:custDataLst>
              <p:tags r:id="rId7"/>
            </p:custDataLst>
          </p:nvPr>
        </p:nvSpPr>
        <p:spPr>
          <a:xfrm>
            <a:off x="4504404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 rot="19394674">
            <a:off x="3907499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椭圆 8"/>
          <p:cNvSpPr/>
          <p:nvPr userDrawn="1">
            <p:custDataLst>
              <p:tags r:id="rId9"/>
            </p:custDataLst>
          </p:nvPr>
        </p:nvSpPr>
        <p:spPr>
          <a:xfrm>
            <a:off x="3508744" y="2560916"/>
            <a:ext cx="782241" cy="7822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 rot="19394674">
            <a:off x="2912437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>
            <p:custDataLst>
              <p:tags r:id="rId11"/>
            </p:custDataLst>
          </p:nvPr>
        </p:nvSpPr>
        <p:spPr>
          <a:xfrm>
            <a:off x="2513977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 rot="19394674">
            <a:off x="1917375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13"/>
            </p:custDataLst>
          </p:nvPr>
        </p:nvSpPr>
        <p:spPr>
          <a:xfrm>
            <a:off x="1519210" y="2560916"/>
            <a:ext cx="782241" cy="78224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T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 rot="19394674">
            <a:off x="5898820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>
            <p:custDataLst>
              <p:tags r:id="rId15"/>
            </p:custDataLst>
          </p:nvPr>
        </p:nvSpPr>
        <p:spPr>
          <a:xfrm>
            <a:off x="5500064" y="2560916"/>
            <a:ext cx="782241" cy="7822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K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16"/>
            </p:custDataLst>
          </p:nvPr>
        </p:nvSpPr>
        <p:spPr>
          <a:xfrm rot="19394674">
            <a:off x="6893881" y="2711678"/>
            <a:ext cx="730910" cy="1099156"/>
          </a:xfrm>
          <a:prstGeom prst="rect">
            <a:avLst/>
          </a:prstGeom>
          <a:gradFill>
            <a:gsLst>
              <a:gs pos="2000">
                <a:srgbClr val="C0C0C0"/>
              </a:gs>
              <a:gs pos="100000">
                <a:srgbClr val="FFFF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>
            <p:custDataLst>
              <p:tags r:id="rId17"/>
            </p:custDataLst>
          </p:nvPr>
        </p:nvSpPr>
        <p:spPr>
          <a:xfrm>
            <a:off x="6495725" y="2560916"/>
            <a:ext cx="782241" cy="7822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3715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</a:t>
            </a:r>
            <a:endParaRPr lang="zh-CN" altLang="en-US" sz="3715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5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6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600" y="228150"/>
            <a:ext cx="8704800" cy="468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61200" y="93690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960835" y="162270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514969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37400" y="57780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40100" y="132300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3825900" y="57745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4264819"/>
            <a:ext cx="1312365" cy="8786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12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7831635" y="4264819"/>
            <a:ext cx="1312365" cy="8786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9000" y="5859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459000" y="12447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459581" y="210600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3771901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0" name="组合 9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11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258174" y="4276815"/>
            <a:ext cx="655493" cy="776855"/>
            <a:chOff x="10500195" y="236222"/>
            <a:chExt cx="1041796" cy="1234679"/>
          </a:xfrm>
        </p:grpSpPr>
        <p:sp>
          <p:nvSpPr>
            <p:cNvPr id="14" name="MH_Others_1"/>
            <p:cNvSpPr/>
            <p:nvPr userDrawn="1">
              <p:custDataLst>
                <p:tags r:id="rId7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MH_Others_2"/>
            <p:cNvSpPr/>
            <p:nvPr userDrawn="1">
              <p:custDataLst>
                <p:tags r:id="rId8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50220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2609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388530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7622381" y="4124716"/>
            <a:ext cx="1521619" cy="10187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34700" y="17820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434700" y="12474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681800" y="12474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429300" y="361260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4689900" y="360990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71941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214312" y="219165"/>
            <a:ext cx="655493" cy="776855"/>
            <a:chOff x="10500195" y="236222"/>
            <a:chExt cx="1041796" cy="1234679"/>
          </a:xfrm>
        </p:grpSpPr>
        <p:sp>
          <p:nvSpPr>
            <p:cNvPr id="9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bg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57975" y="3479006"/>
            <a:ext cx="2486025" cy="16644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142100" y="100440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141810" y="28971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8650" y="273844"/>
            <a:ext cx="7886700" cy="640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8650" y="1126672"/>
            <a:ext cx="7886700" cy="2599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80000"/>
        <a:buFont typeface="Wingdings 2" panose="05020102010507070707" pitchFamily="18" charset="2"/>
        <a:buChar char=""/>
        <a:defRPr sz="21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7" Type="http://schemas.openxmlformats.org/officeDocument/2006/relationships/slideLayout" Target="../slideLayouts/slideLayout18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image" Target="../media/image2.png"/><Relationship Id="rId1" Type="http://schemas.openxmlformats.org/officeDocument/2006/relationships/tags" Target="../tags/tag16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image" Target="../media/image2.png"/><Relationship Id="rId1" Type="http://schemas.openxmlformats.org/officeDocument/2006/relationships/tags" Target="../tags/tag1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image" Target="../media/image2.png"/><Relationship Id="rId1" Type="http://schemas.openxmlformats.org/officeDocument/2006/relationships/tags" Target="../tags/tag17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image" Target="../media/image2.png"/><Relationship Id="rId1" Type="http://schemas.openxmlformats.org/officeDocument/2006/relationships/tags" Target="../tags/tag17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image" Target="../media/image2.png"/><Relationship Id="rId1" Type="http://schemas.openxmlformats.org/officeDocument/2006/relationships/tags" Target="../tags/tag18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image" Target="../media/image2.png"/><Relationship Id="rId1" Type="http://schemas.openxmlformats.org/officeDocument/2006/relationships/tags" Target="../tags/tag19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H_Others_1"/>
          <p:cNvSpPr/>
          <p:nvPr>
            <p:custDataLst>
              <p:tags r:id="rId1"/>
            </p:custDataLst>
          </p:nvPr>
        </p:nvSpPr>
        <p:spPr>
          <a:xfrm>
            <a:off x="5834183" y="1405309"/>
            <a:ext cx="741845" cy="734846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anchor="ctr">
            <a:normAutofit/>
          </a:bodyPr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 dirty="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PART</a:t>
            </a:r>
            <a:endParaRPr lang="en-US" altLang="zh-CN" sz="1350" kern="0" dirty="0">
              <a:solidFill>
                <a:schemeClr val="l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MH_Number"/>
          <p:cNvSpPr/>
          <p:nvPr>
            <p:custDataLst>
              <p:tags r:id="rId2"/>
            </p:custDataLst>
          </p:nvPr>
        </p:nvSpPr>
        <p:spPr>
          <a:xfrm>
            <a:off x="6260810" y="1973169"/>
            <a:ext cx="433983" cy="429518"/>
          </a:xfrm>
          <a:prstGeom prst="ellipse">
            <a:avLst/>
          </a:prstGeom>
          <a:solidFill>
            <a:schemeClr val="lt1"/>
          </a:solidFill>
          <a:ln w="22225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lIns="0" tIns="0" rIns="0" bIns="0" anchor="ctr"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25" b="1" kern="0" dirty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</a:rPr>
              <a:t>1</a:t>
            </a:r>
            <a:endParaRPr lang="en-US" altLang="zh-CN" sz="2025" b="1" kern="0" dirty="0">
              <a:solidFill>
                <a:schemeClr val="accent3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21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市场推广计划</a:t>
            </a:r>
            <a:endParaRPr sz="210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Entry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04381" y="950008"/>
            <a:ext cx="2532970" cy="424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"/>
              <a:defRPr sz="2400">
                <a:solidFill>
                  <a:srgbClr val="657B3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9BD4C1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sz="1600">
                <a:solidFill>
                  <a:schemeClr val="dk1"/>
                </a:solidFill>
                <a:latin typeface="+mn-lt"/>
                <a:ea typeface="+mn-ea"/>
              </a:rPr>
              <a:t>市场分析</a:t>
            </a:r>
            <a:endParaRPr sz="160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17" name="MH_Number_1"/>
          <p:cNvSpPr/>
          <p:nvPr>
            <p:custDataLst>
              <p:tags r:id="rId2"/>
            </p:custDataLst>
          </p:nvPr>
        </p:nvSpPr>
        <p:spPr>
          <a:xfrm>
            <a:off x="2966825" y="1025016"/>
            <a:ext cx="370583" cy="275035"/>
          </a:xfrm>
          <a:custGeom>
            <a:avLst/>
            <a:gdLst>
              <a:gd name="connsiteX0" fmla="*/ 721269 w 825937"/>
              <a:gd name="connsiteY0" fmla="*/ 201970 h 612776"/>
              <a:gd name="connsiteX1" fmla="*/ 825937 w 825937"/>
              <a:gd name="connsiteY1" fmla="*/ 306637 h 612776"/>
              <a:gd name="connsiteX2" fmla="*/ 721767 w 825937"/>
              <a:gd name="connsiteY2" fmla="*/ 410807 h 612776"/>
              <a:gd name="connsiteX3" fmla="*/ 305594 w 825937"/>
              <a:gd name="connsiteY3" fmla="*/ 0 h 612776"/>
              <a:gd name="connsiteX4" fmla="*/ 611188 w 825937"/>
              <a:gd name="connsiteY4" fmla="*/ 306388 h 612776"/>
              <a:gd name="connsiteX5" fmla="*/ 305594 w 825937"/>
              <a:gd name="connsiteY5" fmla="*/ 612776 h 612776"/>
              <a:gd name="connsiteX6" fmla="*/ 0 w 825937"/>
              <a:gd name="connsiteY6" fmla="*/ 306388 h 612776"/>
              <a:gd name="connsiteX7" fmla="*/ 305594 w 825937"/>
              <a:gd name="connsiteY7" fmla="*/ 0 h 6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937" h="612776">
                <a:moveTo>
                  <a:pt x="721269" y="201970"/>
                </a:moveTo>
                <a:lnTo>
                  <a:pt x="825937" y="306637"/>
                </a:lnTo>
                <a:lnTo>
                  <a:pt x="721767" y="410807"/>
                </a:lnTo>
                <a:close/>
                <a:moveTo>
                  <a:pt x="305594" y="0"/>
                </a:moveTo>
                <a:cubicBezTo>
                  <a:pt x="474369" y="0"/>
                  <a:pt x="611188" y="137175"/>
                  <a:pt x="611188" y="306388"/>
                </a:cubicBezTo>
                <a:cubicBezTo>
                  <a:pt x="611188" y="475601"/>
                  <a:pt x="474369" y="612776"/>
                  <a:pt x="305594" y="612776"/>
                </a:cubicBezTo>
                <a:cubicBezTo>
                  <a:pt x="136819" y="612776"/>
                  <a:pt x="0" y="475601"/>
                  <a:pt x="0" y="306388"/>
                </a:cubicBezTo>
                <a:cubicBezTo>
                  <a:pt x="0" y="137175"/>
                  <a:pt x="136819" y="0"/>
                  <a:pt x="305594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8100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>
                <a:solidFill>
                  <a:schemeClr val="lt1"/>
                </a:solidFill>
                <a:latin typeface="+mn-lt"/>
                <a:ea typeface="+mn-ea"/>
              </a:rPr>
              <a:t>1</a:t>
            </a:r>
            <a:endParaRPr lang="en-US" altLang="zh-CN" sz="135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" name="MH_Entry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04381" y="1515186"/>
            <a:ext cx="2532970" cy="42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"/>
              <a:defRPr sz="2400">
                <a:solidFill>
                  <a:srgbClr val="657B3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9BD4C1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sz="1600">
                <a:solidFill>
                  <a:schemeClr val="dk1"/>
                </a:solidFill>
                <a:latin typeface="+mn-lt"/>
                <a:ea typeface="+mn-ea"/>
              </a:rPr>
              <a:t>目标受众</a:t>
            </a:r>
            <a:endParaRPr sz="160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" name="MH_Number_2"/>
          <p:cNvSpPr/>
          <p:nvPr>
            <p:custDataLst>
              <p:tags r:id="rId4"/>
            </p:custDataLst>
          </p:nvPr>
        </p:nvSpPr>
        <p:spPr>
          <a:xfrm>
            <a:off x="2966825" y="1590553"/>
            <a:ext cx="370583" cy="275035"/>
          </a:xfrm>
          <a:custGeom>
            <a:avLst/>
            <a:gdLst>
              <a:gd name="connsiteX0" fmla="*/ 721269 w 825937"/>
              <a:gd name="connsiteY0" fmla="*/ 201970 h 612776"/>
              <a:gd name="connsiteX1" fmla="*/ 825937 w 825937"/>
              <a:gd name="connsiteY1" fmla="*/ 306637 h 612776"/>
              <a:gd name="connsiteX2" fmla="*/ 721767 w 825937"/>
              <a:gd name="connsiteY2" fmla="*/ 410807 h 612776"/>
              <a:gd name="connsiteX3" fmla="*/ 305594 w 825937"/>
              <a:gd name="connsiteY3" fmla="*/ 0 h 612776"/>
              <a:gd name="connsiteX4" fmla="*/ 611188 w 825937"/>
              <a:gd name="connsiteY4" fmla="*/ 306388 h 612776"/>
              <a:gd name="connsiteX5" fmla="*/ 305594 w 825937"/>
              <a:gd name="connsiteY5" fmla="*/ 612776 h 612776"/>
              <a:gd name="connsiteX6" fmla="*/ 0 w 825937"/>
              <a:gd name="connsiteY6" fmla="*/ 306388 h 612776"/>
              <a:gd name="connsiteX7" fmla="*/ 305594 w 825937"/>
              <a:gd name="connsiteY7" fmla="*/ 0 h 6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937" h="612776">
                <a:moveTo>
                  <a:pt x="721269" y="201970"/>
                </a:moveTo>
                <a:lnTo>
                  <a:pt x="825937" y="306637"/>
                </a:lnTo>
                <a:lnTo>
                  <a:pt x="721767" y="410807"/>
                </a:lnTo>
                <a:close/>
                <a:moveTo>
                  <a:pt x="305594" y="0"/>
                </a:moveTo>
                <a:cubicBezTo>
                  <a:pt x="474369" y="0"/>
                  <a:pt x="611188" y="137175"/>
                  <a:pt x="611188" y="306388"/>
                </a:cubicBezTo>
                <a:cubicBezTo>
                  <a:pt x="611188" y="475601"/>
                  <a:pt x="474369" y="612776"/>
                  <a:pt x="305594" y="612776"/>
                </a:cubicBezTo>
                <a:cubicBezTo>
                  <a:pt x="136819" y="612776"/>
                  <a:pt x="0" y="475601"/>
                  <a:pt x="0" y="306388"/>
                </a:cubicBezTo>
                <a:cubicBezTo>
                  <a:pt x="0" y="137175"/>
                  <a:pt x="136819" y="0"/>
                  <a:pt x="305594" y="0"/>
                </a:cubicBez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8100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>
                <a:solidFill>
                  <a:schemeClr val="lt1"/>
                </a:solidFill>
                <a:latin typeface="+mn-lt"/>
                <a:ea typeface="+mn-ea"/>
              </a:rPr>
              <a:t>2</a:t>
            </a:r>
            <a:endParaRPr lang="en-US" altLang="zh-CN" sz="135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3" name="MH_Entry_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04381" y="2081258"/>
            <a:ext cx="2532970" cy="424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"/>
              <a:defRPr sz="2400">
                <a:solidFill>
                  <a:srgbClr val="657B3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9BD4C1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sz="1600">
                <a:solidFill>
                  <a:schemeClr val="dk1"/>
                </a:solidFill>
                <a:latin typeface="+mn-lt"/>
                <a:ea typeface="+mn-ea"/>
              </a:rPr>
              <a:t>推广策略</a:t>
            </a:r>
            <a:endParaRPr sz="160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" name="MH_Number_1"/>
          <p:cNvSpPr/>
          <p:nvPr>
            <p:custDataLst>
              <p:tags r:id="rId6"/>
            </p:custDataLst>
          </p:nvPr>
        </p:nvSpPr>
        <p:spPr>
          <a:xfrm>
            <a:off x="2966825" y="2156088"/>
            <a:ext cx="370583" cy="275035"/>
          </a:xfrm>
          <a:custGeom>
            <a:avLst/>
            <a:gdLst>
              <a:gd name="connsiteX0" fmla="*/ 721269 w 825937"/>
              <a:gd name="connsiteY0" fmla="*/ 201970 h 612776"/>
              <a:gd name="connsiteX1" fmla="*/ 825937 w 825937"/>
              <a:gd name="connsiteY1" fmla="*/ 306637 h 612776"/>
              <a:gd name="connsiteX2" fmla="*/ 721767 w 825937"/>
              <a:gd name="connsiteY2" fmla="*/ 410807 h 612776"/>
              <a:gd name="connsiteX3" fmla="*/ 305594 w 825937"/>
              <a:gd name="connsiteY3" fmla="*/ 0 h 612776"/>
              <a:gd name="connsiteX4" fmla="*/ 611188 w 825937"/>
              <a:gd name="connsiteY4" fmla="*/ 306388 h 612776"/>
              <a:gd name="connsiteX5" fmla="*/ 305594 w 825937"/>
              <a:gd name="connsiteY5" fmla="*/ 612776 h 612776"/>
              <a:gd name="connsiteX6" fmla="*/ 0 w 825937"/>
              <a:gd name="connsiteY6" fmla="*/ 306388 h 612776"/>
              <a:gd name="connsiteX7" fmla="*/ 305594 w 825937"/>
              <a:gd name="connsiteY7" fmla="*/ 0 h 6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937" h="612776">
                <a:moveTo>
                  <a:pt x="721269" y="201970"/>
                </a:moveTo>
                <a:lnTo>
                  <a:pt x="825937" y="306637"/>
                </a:lnTo>
                <a:lnTo>
                  <a:pt x="721767" y="410807"/>
                </a:lnTo>
                <a:close/>
                <a:moveTo>
                  <a:pt x="305594" y="0"/>
                </a:moveTo>
                <a:cubicBezTo>
                  <a:pt x="474369" y="0"/>
                  <a:pt x="611188" y="137175"/>
                  <a:pt x="611188" y="306388"/>
                </a:cubicBezTo>
                <a:cubicBezTo>
                  <a:pt x="611188" y="475601"/>
                  <a:pt x="474369" y="612776"/>
                  <a:pt x="305594" y="612776"/>
                </a:cubicBezTo>
                <a:cubicBezTo>
                  <a:pt x="136819" y="612776"/>
                  <a:pt x="0" y="475601"/>
                  <a:pt x="0" y="306388"/>
                </a:cubicBezTo>
                <a:cubicBezTo>
                  <a:pt x="0" y="137175"/>
                  <a:pt x="136819" y="0"/>
                  <a:pt x="305594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8100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>
                <a:solidFill>
                  <a:schemeClr val="lt1"/>
                </a:solidFill>
                <a:latin typeface="+mn-lt"/>
                <a:ea typeface="+mn-ea"/>
              </a:rPr>
              <a:t>3</a:t>
            </a:r>
            <a:endParaRPr lang="en-US" altLang="zh-CN" sz="135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5" name="MH_Entry_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404381" y="2646436"/>
            <a:ext cx="2532970" cy="42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"/>
              <a:defRPr sz="2400">
                <a:solidFill>
                  <a:srgbClr val="657B3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9BD4C1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sz="1600">
                <a:solidFill>
                  <a:schemeClr val="dk1"/>
                </a:solidFill>
                <a:latin typeface="+mn-lt"/>
                <a:ea typeface="+mn-ea"/>
              </a:rPr>
              <a:t>实施计划</a:t>
            </a:r>
            <a:endParaRPr sz="160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" name="MH_Number_2"/>
          <p:cNvSpPr/>
          <p:nvPr>
            <p:custDataLst>
              <p:tags r:id="rId8"/>
            </p:custDataLst>
          </p:nvPr>
        </p:nvSpPr>
        <p:spPr>
          <a:xfrm>
            <a:off x="2966825" y="2721625"/>
            <a:ext cx="370583" cy="275035"/>
          </a:xfrm>
          <a:custGeom>
            <a:avLst/>
            <a:gdLst>
              <a:gd name="connsiteX0" fmla="*/ 721269 w 825937"/>
              <a:gd name="connsiteY0" fmla="*/ 201970 h 612776"/>
              <a:gd name="connsiteX1" fmla="*/ 825937 w 825937"/>
              <a:gd name="connsiteY1" fmla="*/ 306637 h 612776"/>
              <a:gd name="connsiteX2" fmla="*/ 721767 w 825937"/>
              <a:gd name="connsiteY2" fmla="*/ 410807 h 612776"/>
              <a:gd name="connsiteX3" fmla="*/ 305594 w 825937"/>
              <a:gd name="connsiteY3" fmla="*/ 0 h 612776"/>
              <a:gd name="connsiteX4" fmla="*/ 611188 w 825937"/>
              <a:gd name="connsiteY4" fmla="*/ 306388 h 612776"/>
              <a:gd name="connsiteX5" fmla="*/ 305594 w 825937"/>
              <a:gd name="connsiteY5" fmla="*/ 612776 h 612776"/>
              <a:gd name="connsiteX6" fmla="*/ 0 w 825937"/>
              <a:gd name="connsiteY6" fmla="*/ 306388 h 612776"/>
              <a:gd name="connsiteX7" fmla="*/ 305594 w 825937"/>
              <a:gd name="connsiteY7" fmla="*/ 0 h 6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937" h="612776">
                <a:moveTo>
                  <a:pt x="721269" y="201970"/>
                </a:moveTo>
                <a:lnTo>
                  <a:pt x="825937" y="306637"/>
                </a:lnTo>
                <a:lnTo>
                  <a:pt x="721767" y="410807"/>
                </a:lnTo>
                <a:close/>
                <a:moveTo>
                  <a:pt x="305594" y="0"/>
                </a:moveTo>
                <a:cubicBezTo>
                  <a:pt x="474369" y="0"/>
                  <a:pt x="611188" y="137175"/>
                  <a:pt x="611188" y="306388"/>
                </a:cubicBezTo>
                <a:cubicBezTo>
                  <a:pt x="611188" y="475601"/>
                  <a:pt x="474369" y="612776"/>
                  <a:pt x="305594" y="612776"/>
                </a:cubicBezTo>
                <a:cubicBezTo>
                  <a:pt x="136819" y="612776"/>
                  <a:pt x="0" y="475601"/>
                  <a:pt x="0" y="306388"/>
                </a:cubicBezTo>
                <a:cubicBezTo>
                  <a:pt x="0" y="137175"/>
                  <a:pt x="136819" y="0"/>
                  <a:pt x="305594" y="0"/>
                </a:cubicBez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8100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>
                <a:solidFill>
                  <a:schemeClr val="lt1"/>
                </a:solidFill>
                <a:latin typeface="+mn-lt"/>
                <a:ea typeface="+mn-ea"/>
              </a:rPr>
              <a:t>4</a:t>
            </a:r>
            <a:endParaRPr lang="en-US" altLang="zh-CN" sz="135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7" name="MH_Entry_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404381" y="3212507"/>
            <a:ext cx="2532970" cy="424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"/>
              <a:defRPr sz="2400">
                <a:solidFill>
                  <a:srgbClr val="657B3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9BD4C1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sz="1600">
                <a:solidFill>
                  <a:schemeClr val="dk1"/>
                </a:solidFill>
                <a:latin typeface="+mn-lt"/>
                <a:ea typeface="+mn-ea"/>
              </a:rPr>
              <a:t>预算</a:t>
            </a:r>
            <a:endParaRPr sz="160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9" name="MH_Number_1"/>
          <p:cNvSpPr/>
          <p:nvPr>
            <p:custDataLst>
              <p:tags r:id="rId10"/>
            </p:custDataLst>
          </p:nvPr>
        </p:nvSpPr>
        <p:spPr>
          <a:xfrm>
            <a:off x="2966825" y="3287160"/>
            <a:ext cx="370583" cy="275035"/>
          </a:xfrm>
          <a:custGeom>
            <a:avLst/>
            <a:gdLst>
              <a:gd name="connsiteX0" fmla="*/ 721269 w 825937"/>
              <a:gd name="connsiteY0" fmla="*/ 201970 h 612776"/>
              <a:gd name="connsiteX1" fmla="*/ 825937 w 825937"/>
              <a:gd name="connsiteY1" fmla="*/ 306637 h 612776"/>
              <a:gd name="connsiteX2" fmla="*/ 721767 w 825937"/>
              <a:gd name="connsiteY2" fmla="*/ 410807 h 612776"/>
              <a:gd name="connsiteX3" fmla="*/ 305594 w 825937"/>
              <a:gd name="connsiteY3" fmla="*/ 0 h 612776"/>
              <a:gd name="connsiteX4" fmla="*/ 611188 w 825937"/>
              <a:gd name="connsiteY4" fmla="*/ 306388 h 612776"/>
              <a:gd name="connsiteX5" fmla="*/ 305594 w 825937"/>
              <a:gd name="connsiteY5" fmla="*/ 612776 h 612776"/>
              <a:gd name="connsiteX6" fmla="*/ 0 w 825937"/>
              <a:gd name="connsiteY6" fmla="*/ 306388 h 612776"/>
              <a:gd name="connsiteX7" fmla="*/ 305594 w 825937"/>
              <a:gd name="connsiteY7" fmla="*/ 0 h 6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937" h="612776">
                <a:moveTo>
                  <a:pt x="721269" y="201970"/>
                </a:moveTo>
                <a:lnTo>
                  <a:pt x="825937" y="306637"/>
                </a:lnTo>
                <a:lnTo>
                  <a:pt x="721767" y="410807"/>
                </a:lnTo>
                <a:close/>
                <a:moveTo>
                  <a:pt x="305594" y="0"/>
                </a:moveTo>
                <a:cubicBezTo>
                  <a:pt x="474369" y="0"/>
                  <a:pt x="611188" y="137175"/>
                  <a:pt x="611188" y="306388"/>
                </a:cubicBezTo>
                <a:cubicBezTo>
                  <a:pt x="611188" y="475601"/>
                  <a:pt x="474369" y="612776"/>
                  <a:pt x="305594" y="612776"/>
                </a:cubicBezTo>
                <a:cubicBezTo>
                  <a:pt x="136819" y="612776"/>
                  <a:pt x="0" y="475601"/>
                  <a:pt x="0" y="306388"/>
                </a:cubicBezTo>
                <a:cubicBezTo>
                  <a:pt x="0" y="137175"/>
                  <a:pt x="136819" y="0"/>
                  <a:pt x="305594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8100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>
                <a:solidFill>
                  <a:schemeClr val="lt1"/>
                </a:solidFill>
                <a:latin typeface="+mn-lt"/>
                <a:ea typeface="+mn-ea"/>
              </a:rPr>
              <a:t>5</a:t>
            </a:r>
            <a:endParaRPr lang="en-US" altLang="zh-CN" sz="135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1" name="MH_Entry_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404381" y="3777686"/>
            <a:ext cx="2532970" cy="42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"/>
              <a:defRPr sz="2400">
                <a:solidFill>
                  <a:srgbClr val="657B3E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9BD4C1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0" lvl="0" indent="0" algn="l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sz="1600">
                <a:solidFill>
                  <a:schemeClr val="dk1"/>
                </a:solidFill>
                <a:latin typeface="+mn-lt"/>
                <a:ea typeface="+mn-ea"/>
              </a:rPr>
              <a:t>结论</a:t>
            </a:r>
            <a:endParaRPr sz="160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32" name="MH_Number_2"/>
          <p:cNvSpPr/>
          <p:nvPr>
            <p:custDataLst>
              <p:tags r:id="rId12"/>
            </p:custDataLst>
          </p:nvPr>
        </p:nvSpPr>
        <p:spPr>
          <a:xfrm>
            <a:off x="2966825" y="3852697"/>
            <a:ext cx="370583" cy="275035"/>
          </a:xfrm>
          <a:custGeom>
            <a:avLst/>
            <a:gdLst>
              <a:gd name="connsiteX0" fmla="*/ 721269 w 825937"/>
              <a:gd name="connsiteY0" fmla="*/ 201970 h 612776"/>
              <a:gd name="connsiteX1" fmla="*/ 825937 w 825937"/>
              <a:gd name="connsiteY1" fmla="*/ 306637 h 612776"/>
              <a:gd name="connsiteX2" fmla="*/ 721767 w 825937"/>
              <a:gd name="connsiteY2" fmla="*/ 410807 h 612776"/>
              <a:gd name="connsiteX3" fmla="*/ 305594 w 825937"/>
              <a:gd name="connsiteY3" fmla="*/ 0 h 612776"/>
              <a:gd name="connsiteX4" fmla="*/ 611188 w 825937"/>
              <a:gd name="connsiteY4" fmla="*/ 306388 h 612776"/>
              <a:gd name="connsiteX5" fmla="*/ 305594 w 825937"/>
              <a:gd name="connsiteY5" fmla="*/ 612776 h 612776"/>
              <a:gd name="connsiteX6" fmla="*/ 0 w 825937"/>
              <a:gd name="connsiteY6" fmla="*/ 306388 h 612776"/>
              <a:gd name="connsiteX7" fmla="*/ 305594 w 825937"/>
              <a:gd name="connsiteY7" fmla="*/ 0 h 612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5937" h="612776">
                <a:moveTo>
                  <a:pt x="721269" y="201970"/>
                </a:moveTo>
                <a:lnTo>
                  <a:pt x="825937" y="306637"/>
                </a:lnTo>
                <a:lnTo>
                  <a:pt x="721767" y="410807"/>
                </a:lnTo>
                <a:close/>
                <a:moveTo>
                  <a:pt x="305594" y="0"/>
                </a:moveTo>
                <a:cubicBezTo>
                  <a:pt x="474369" y="0"/>
                  <a:pt x="611188" y="137175"/>
                  <a:pt x="611188" y="306388"/>
                </a:cubicBezTo>
                <a:cubicBezTo>
                  <a:pt x="611188" y="475601"/>
                  <a:pt x="474369" y="612776"/>
                  <a:pt x="305594" y="612776"/>
                </a:cubicBezTo>
                <a:cubicBezTo>
                  <a:pt x="136819" y="612776"/>
                  <a:pt x="0" y="475601"/>
                  <a:pt x="0" y="306388"/>
                </a:cubicBezTo>
                <a:cubicBezTo>
                  <a:pt x="0" y="137175"/>
                  <a:pt x="136819" y="0"/>
                  <a:pt x="305594" y="0"/>
                </a:cubicBez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81000" bIns="0"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350" kern="0">
                <a:solidFill>
                  <a:schemeClr val="lt1"/>
                </a:solidFill>
                <a:latin typeface="+mn-lt"/>
                <a:ea typeface="+mn-ea"/>
              </a:rPr>
              <a:t>6</a:t>
            </a:r>
            <a:endParaRPr lang="en-US" altLang="zh-CN" sz="135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8" name="MH_Others_1"/>
          <p:cNvSpPr/>
          <p:nvPr>
            <p:custDataLst>
              <p:tags r:id="rId13"/>
            </p:custDataLst>
          </p:nvPr>
        </p:nvSpPr>
        <p:spPr>
          <a:xfrm>
            <a:off x="7517959" y="312898"/>
            <a:ext cx="662583" cy="656333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040" kern="0" dirty="0">
                <a:solidFill>
                  <a:schemeClr val="lt1"/>
                </a:solidFill>
                <a:latin typeface="+mn-lt"/>
                <a:ea typeface="+mn-ea"/>
              </a:rPr>
              <a:t>目</a:t>
            </a:r>
            <a:endParaRPr lang="zh-CN" altLang="en-US" sz="3040" kern="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9" name="MH_Others_2"/>
          <p:cNvSpPr/>
          <p:nvPr>
            <p:custDataLst>
              <p:tags r:id="rId14"/>
            </p:custDataLst>
          </p:nvPr>
        </p:nvSpPr>
        <p:spPr>
          <a:xfrm>
            <a:off x="7864430" y="809389"/>
            <a:ext cx="434876" cy="429518"/>
          </a:xfrm>
          <a:prstGeom prst="ellipse">
            <a:avLst/>
          </a:prstGeom>
          <a:solidFill>
            <a:schemeClr val="lt1"/>
          </a:solidFill>
          <a:ln w="22225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25" b="1" kern="0" dirty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</a:rPr>
              <a:t>录</a:t>
            </a:r>
            <a:endParaRPr lang="zh-CN" altLang="en-US" sz="2025" b="1" kern="0" dirty="0">
              <a:solidFill>
                <a:schemeClr val="accent3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MH_Others_3"/>
          <p:cNvSpPr txBox="1"/>
          <p:nvPr>
            <p:custDataLst>
              <p:tags r:id="rId15"/>
            </p:custDataLst>
          </p:nvPr>
        </p:nvSpPr>
        <p:spPr>
          <a:xfrm rot="16200000">
            <a:off x="6933510" y="1606363"/>
            <a:ext cx="1568054" cy="293787"/>
          </a:xfrm>
          <a:prstGeom prst="rect">
            <a:avLst/>
          </a:prstGeom>
          <a:noFill/>
        </p:spPr>
        <p:txBody>
          <a:bodyPr anchor="b">
            <a:normAutofit fontScale="90000"/>
          </a:bodyPr>
          <a:lstStyle/>
          <a:p>
            <a:pPr marL="0" indent="0" algn="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400" kern="0" spc="375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目录</a:t>
            </a:r>
            <a:endParaRPr sz="1400" kern="0" spc="375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280" kern="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lt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520" b="1" kern="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1. 市场分析</a:t>
            </a:r>
            <a:endParaRPr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6"/>
            </p:custDataLst>
          </p:nvPr>
        </p:nvSpPr>
        <p:spPr>
          <a:xfrm>
            <a:off x="457200" y="1200151"/>
            <a:ext cx="8229600" cy="3394472"/>
          </a:xfr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市场现状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当前市场趋势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主要竞争对手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行业增长潜力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SWOT分析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优势</a:t>
            </a: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: 我们的核心竞争力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劣势</a:t>
            </a: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: 当前的短板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机会</a:t>
            </a: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: 潜在市场机会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威胁</a:t>
            </a: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: 可能的外部威胁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280" kern="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lt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520" b="1" kern="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2. 目标受众</a:t>
            </a:r>
            <a:endParaRPr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6"/>
            </p:custDataLst>
          </p:nvPr>
        </p:nvSpPr>
        <p:spPr>
          <a:xfrm>
            <a:off x="457200" y="1200151"/>
            <a:ext cx="8229600" cy="339447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用户画像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年龄、性别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收入水平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消费习惯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市场细分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按地理区域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按兴趣爱好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280" kern="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lt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520" b="1" kern="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3. 推广策略</a:t>
            </a:r>
            <a:endParaRPr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6"/>
            </p:custDataLst>
          </p:nvPr>
        </p:nvSpPr>
        <p:spPr>
          <a:xfrm>
            <a:off x="457200" y="1200151"/>
            <a:ext cx="8229600" cy="339447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线上推广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社交媒体营销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内容营销（博客、视频等）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搜索引擎优化（SEO）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线下推广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展会和活动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合作营销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直邮活动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280" kern="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lt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520" b="1" kern="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4. 实施计划</a:t>
            </a:r>
            <a:endParaRPr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6"/>
            </p:custDataLst>
          </p:nvPr>
        </p:nvSpPr>
        <p:spPr>
          <a:xfrm>
            <a:off x="457200" y="1200151"/>
            <a:ext cx="8229600" cy="339447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时间表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第一阶段：市场调研（1-2个月）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第二阶段：推广方案制定（1个月）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第三阶段：执行推广活动（持续6个月）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关键里程碑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完成用户调查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成功推出社交媒体广告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达到销售目标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280" kern="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lt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520" b="1" kern="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5. 预算</a:t>
            </a:r>
            <a:endParaRPr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6"/>
            </p:custDataLst>
          </p:nvPr>
        </p:nvSpPr>
        <p:spPr>
          <a:xfrm>
            <a:off x="457200" y="1200151"/>
            <a:ext cx="8229600" cy="339447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b="1"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推广费用</a:t>
            </a:r>
            <a:endParaRPr b="1"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线上营销：$XX,XXX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线下活动：$XX,XXX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lvl="1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总预算：$XX,XXX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88060"/>
            <a:ext cx="9144000" cy="1655441"/>
          </a:xfrm>
          <a:prstGeom prst="rect">
            <a:avLst/>
          </a:prstGeom>
        </p:spPr>
      </p:pic>
      <p:grpSp>
        <p:nvGrpSpPr>
          <p:cNvPr id="9" name="组合 8"/>
          <p:cNvGrpSpPr/>
          <p:nvPr userDrawn="1">
            <p:custDataLst>
              <p:tags r:id="rId3"/>
            </p:custDataLst>
          </p:nvPr>
        </p:nvGrpSpPr>
        <p:grpSpPr>
          <a:xfrm>
            <a:off x="8008143" y="190590"/>
            <a:ext cx="655493" cy="776855"/>
            <a:chOff x="10500195" y="236222"/>
            <a:chExt cx="1041796" cy="1234679"/>
          </a:xfrm>
        </p:grpSpPr>
        <p:sp>
          <p:nvSpPr>
            <p:cNvPr id="7" name="MH_Others_1"/>
            <p:cNvSpPr/>
            <p:nvPr userDrawn="1">
              <p:custDataLst>
                <p:tags r:id="rId4"/>
              </p:custDataLst>
            </p:nvPr>
          </p:nvSpPr>
          <p:spPr>
            <a:xfrm>
              <a:off x="10500195" y="236222"/>
              <a:ext cx="883444" cy="87511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3040" kern="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MH_Others_2"/>
            <p:cNvSpPr/>
            <p:nvPr userDrawn="1">
              <p:custDataLst>
                <p:tags r:id="rId5"/>
              </p:custDataLst>
            </p:nvPr>
          </p:nvSpPr>
          <p:spPr>
            <a:xfrm>
              <a:off x="10962157" y="898210"/>
              <a:ext cx="579834" cy="572691"/>
            </a:xfrm>
            <a:prstGeom prst="ellipse">
              <a:avLst/>
            </a:prstGeom>
            <a:solidFill>
              <a:schemeClr val="lt1"/>
            </a:solidFill>
            <a:ln w="22225" cap="flat" cmpd="sng" algn="ctr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anchor="ctr"/>
            <a:p>
              <a:pPr algn="ctr" eaLnBrk="1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2025" b="1" kern="0" dirty="0">
                <a:solidFill>
                  <a:schemeClr val="accent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  <p:custDataLst>
              <p:tags r:id="rId6"/>
            </p:custDataLst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6. 结论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  <p:custDataLst>
              <p:tags r:id="rId7"/>
            </p:custDataLst>
          </p:nvPr>
        </p:nvSpPr>
        <p:spPr>
          <a:xfrm>
            <a:off x="457200" y="1200151"/>
            <a:ext cx="8229600" cy="339447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>
                <a:solidFill>
                  <a:schemeClr val="dk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本推广计划旨在提升品牌知名度，吸引目标客户，促进销售增长。通过系统的市场分析和有效的推广策略，我们将达到预期目标。</a:t>
            </a:r>
            <a:endParaRPr>
              <a:solidFill>
                <a:schemeClr val="dk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5400">
                <a:solidFill>
                  <a:schemeClr val="lt1"/>
                </a:solidFill>
              </a:rPr>
              <a:t>感谢您的关注！如有任何问题，请随时提出。</a:t>
            </a:r>
            <a:endParaRPr sz="5400">
              <a:solidFill>
                <a:schemeClr val="l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1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12"/>
  <p:tag name="KSO_WM_UNIT_INDEX" val="12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4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5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6"/>
  <p:tag name="KSO_WM_UNIT_INDEX" val="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7"/>
  <p:tag name="KSO_WM_UNIT_INDEX" val="7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8"/>
  <p:tag name="KSO_WM_UNIT_INDEX" val="8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9"/>
  <p:tag name="KSO_WM_UNIT_INDEX" val="9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10"/>
  <p:tag name="KSO_WM_UNIT_INDEX" val="1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11"/>
  <p:tag name="KSO_WM_UNIT_INDEX" val="11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3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7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104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107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127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160428"/>
</p:tagLst>
</file>

<file path=ppt/tags/tag135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160428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BEAUTIFY_FLAG" val="#wm#"/>
  <p:tag name="KSO_WM_TEMPLATE_MASTER_TYPE" val="1"/>
</p:tagLst>
</file>

<file path=ppt/tags/tag140.xml><?xml version="1.0" encoding="utf-8"?>
<p:tagLst xmlns:p="http://schemas.openxmlformats.org/presentationml/2006/main">
  <p:tag name="MH" val="20150409143211"/>
  <p:tag name="MH_LIBRARY" val="CONTENTS"/>
  <p:tag name="MH_TYPE" val="OTHERS"/>
  <p:tag name="KSO_WM_TAG_VERSION" val="1.0"/>
  <p:tag name="KSO_WM_BEAUTIFY_FLAG" val="#wm#"/>
  <p:tag name="KSO_WM_UNIT_TYPE" val="i"/>
  <p:tag name="KSO_WM_UNIT_ID" val="custom160428_12*i*0"/>
  <p:tag name="KSO_WM_TEMPLATE_CATEGORY" val="custom"/>
  <p:tag name="KSO_WM_TEMPLATE_INDEX" val="160428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41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NUMBER"/>
  <p:tag name="KSO_WM_UNIT_TYPE" val="e"/>
  <p:tag name="KSO_WM_UNIT_INDEX" val="1"/>
  <p:tag name="KSO_WM_UNIT_ID" val="custom160428_12*e*1"/>
  <p:tag name="KSO_WM_UNIT_LAYERLEVEL" val="1"/>
  <p:tag name="KSO_WM_UNIT_VALUE" val="1"/>
  <p:tag name="KSO_WM_UNIT_HIGHLIGHT" val="0"/>
  <p:tag name="KSO_WM_UNIT_COMPATIBLE" val="1"/>
  <p:tag name="KSO_WM_UNIT_PRESET_TEXT" val="1"/>
  <p:tag name="KSO_WM_UNIT_NOCLEAR" val="0"/>
  <p:tag name="KSO_WM_UNIT_DIAGRAM_ISNUMVISUAL" val="0"/>
  <p:tag name="KSO_WM_UNIT_DIAGRAM_ISREFERUNIT" val="0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42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KSO_WM_UNIT_TYPE" val="a"/>
  <p:tag name="KSO_WM_UNIT_INDEX" val="1"/>
  <p:tag name="KSO_WM_UNIT_ID" val="custom160428_12*a*1"/>
  <p:tag name="KSO_WM_UNIT_LAYERLEVEL" val="1"/>
  <p:tag name="KSO_WM_UNIT_VALUE" val="16"/>
  <p:tag name="KSO_WM_UNIT_ISCONTENTSTITLE" val="0"/>
  <p:tag name="KSO_WM_UNIT_HIGHLIGHT" val="0"/>
  <p:tag name="KSO_WM_UNIT_COMPATIBLE" val="0"/>
  <p:tag name="KSO_WM_UNIT_PRESET_TEXT_INDEX" val="3"/>
  <p:tag name="KSO_WM_UNIT_PRESET_TEXT_LEN" val="17"/>
  <p:tag name="KSO_WM_UNIT_ISNUMDGMTITLE" val="0"/>
  <p:tag name="KSO_WM_UNIT_NOCLEAR" val="0"/>
  <p:tag name="KSO_WM_UNIT_DIAGRAM_ISNUMVISUAL" val="0"/>
  <p:tag name="KSO_WM_UNIT_DIAGRAM_ISREFERUNIT" val="0"/>
</p:tagLst>
</file>

<file path=ppt/tags/tag143.xml><?xml version="1.0" encoding="utf-8"?>
<p:tagLst xmlns:p="http://schemas.openxmlformats.org/presentationml/2006/main">
  <p:tag name="MH" val="20150409143211"/>
  <p:tag name="MH_LIBRARY" val="CONTENTS"/>
  <p:tag name="MH_AUTOCOLOR" val="TRUE"/>
  <p:tag name="MH_TYPE" val="SECTION"/>
  <p:tag name="KSO_WM_TEMPLATE_CATEGORY" val="custom"/>
  <p:tag name="KSO_WM_TEMPLATE_INDEX" val="160428"/>
  <p:tag name="KSO_WM_TAG_VERSION" val="1.0"/>
  <p:tag name="KSO_WM_SLIDE_ID" val="custom160428_12"/>
  <p:tag name="KSO_WM_SLIDE_INDEX" val="12"/>
  <p:tag name="KSO_WM_SLIDE_ITEM_CNT" val="0"/>
  <p:tag name="KSO_WM_SLIDE_LAYOUT" val="a_e"/>
  <p:tag name="KSO_WM_SLIDE_LAYOUT_CNT" val="1_1"/>
  <p:tag name="KSO_WM_SLIDE_TYPE" val="sectionTitle"/>
  <p:tag name="KSO_WM_BEAUTIFY_FLAG" val="#wm#"/>
  <p:tag name="KSO_WM_SLIDE_SUBTYPE" val="pureTxt"/>
  <p:tag name="KSO_WM_TEMPLATE_SUBCATEGORY" val="0"/>
  <p:tag name="KSO_WM_TEMPLATE_MASTER_TYPE" val="1"/>
  <p:tag name="KSO_WM_TEMPLATE_COLOR_TYPE" val="0"/>
</p:tagLst>
</file>

<file path=ppt/tags/tag144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ENTRY"/>
  <p:tag name="MH_ORDER" val="1"/>
  <p:tag name="KSO_WM_UNIT_TYPE" val="l_h_f"/>
  <p:tag name="KSO_WM_UNIT_INDEX" val="1_1_1"/>
  <p:tag name="KSO_WM_UNIT_ID" val="custom160428_11*l_h_f*1_1_1"/>
  <p:tag name="KSO_WM_UNIT_LAYERLEVEL" val="1_1_1"/>
  <p:tag name="KSO_WM_UNIT_VALUE" val="11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SUBTYPE" val="a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1"/>
  <p:tag name="KSO_WM_UNIT_TYPE" val="l_h_i"/>
  <p:tag name="KSO_WM_UNIT_INDEX" val="1_1_1"/>
  <p:tag name="KSO_WM_UNIT_ID" val="custom160428_11*l_h_i*1_1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ENTRY"/>
  <p:tag name="MH_ORDER" val="2"/>
  <p:tag name="KSO_WM_UNIT_TYPE" val="l_h_f"/>
  <p:tag name="KSO_WM_UNIT_INDEX" val="1_2_1"/>
  <p:tag name="KSO_WM_UNIT_ID" val="custom160428_11*l_h_f*1_2_1"/>
  <p:tag name="KSO_WM_UNIT_LAYERLEVEL" val="1_1_1"/>
  <p:tag name="KSO_WM_UNIT_VALUE" val="11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SUBTYPE" val="a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2"/>
  <p:tag name="KSO_WM_UNIT_TYPE" val="l_h_i"/>
  <p:tag name="KSO_WM_UNIT_INDEX" val="1_2_1"/>
  <p:tag name="KSO_WM_UNIT_ID" val="custom160428_11*l_h_i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ENTRY"/>
  <p:tag name="MH_ORDER" val="1"/>
  <p:tag name="KSO_WM_UNIT_TYPE" val="l_h_f"/>
  <p:tag name="KSO_WM_UNIT_INDEX" val="1_3_1"/>
  <p:tag name="KSO_WM_UNIT_ID" val="custom160428_11*l_h_f*1_3_1"/>
  <p:tag name="KSO_WM_UNIT_LAYERLEVEL" val="1_1_1"/>
  <p:tag name="KSO_WM_UNIT_VALUE" val="11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SUBTYPE" val="a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UNIT_USESOURCEFORMAT_APPLY" val="1"/>
</p:tagLst>
</file>

<file path=ppt/tags/tag149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1"/>
  <p:tag name="KSO_WM_UNIT_TYPE" val="l_h_i"/>
  <p:tag name="KSO_WM_UNIT_INDEX" val="1_3_1"/>
  <p:tag name="KSO_WM_UNIT_ID" val="custom160428_11*l_h_i*1_3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ENTRY"/>
  <p:tag name="MH_ORDER" val="2"/>
  <p:tag name="KSO_WM_UNIT_TYPE" val="l_h_f"/>
  <p:tag name="KSO_WM_UNIT_INDEX" val="1_4_1"/>
  <p:tag name="KSO_WM_UNIT_ID" val="custom160428_11*l_h_f*1_4_1"/>
  <p:tag name="KSO_WM_UNIT_LAYERLEVEL" val="1_1_1"/>
  <p:tag name="KSO_WM_UNIT_VALUE" val="11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SUBTYPE" val="a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2"/>
  <p:tag name="KSO_WM_UNIT_TYPE" val="l_h_i"/>
  <p:tag name="KSO_WM_UNIT_INDEX" val="1_4_1"/>
  <p:tag name="KSO_WM_UNIT_ID" val="custom160428_11*l_h_i*1_4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ENTRY"/>
  <p:tag name="MH_ORDER" val="1"/>
  <p:tag name="KSO_WM_UNIT_TYPE" val="l_h_f"/>
  <p:tag name="KSO_WM_UNIT_INDEX" val="1_5_1"/>
  <p:tag name="KSO_WM_UNIT_ID" val="custom160428_11*l_h_f*1_5_1"/>
  <p:tag name="KSO_WM_UNIT_LAYERLEVEL" val="1_1_1"/>
  <p:tag name="KSO_WM_UNIT_VALUE" val="11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SUBTYPE" val="a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1"/>
  <p:tag name="KSO_WM_UNIT_TYPE" val="l_h_i"/>
  <p:tag name="KSO_WM_UNIT_INDEX" val="1_5_1"/>
  <p:tag name="KSO_WM_UNIT_ID" val="custom160428_11*l_h_i*1_5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ENTRY"/>
  <p:tag name="MH_ORDER" val="2"/>
  <p:tag name="KSO_WM_UNIT_TYPE" val="l_h_f"/>
  <p:tag name="KSO_WM_UNIT_INDEX" val="1_6_1"/>
  <p:tag name="KSO_WM_UNIT_ID" val="custom160428_11*l_h_f*1_6_1"/>
  <p:tag name="KSO_WM_UNIT_LAYERLEVEL" val="1_1_1"/>
  <p:tag name="KSO_WM_UNIT_VALUE" val="11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SUBTYPE" val="a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NUMBER"/>
  <p:tag name="MH_ORDER" val="2"/>
  <p:tag name="KSO_WM_UNIT_TYPE" val="l_h_i"/>
  <p:tag name="KSO_WM_UNIT_INDEX" val="1_6_1"/>
  <p:tag name="KSO_WM_UNIT_ID" val="custom160428_11*l_h_i*1_6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custom160428_11*l_i*1_1"/>
  <p:tag name="KSO_WM_UNIT_LAYERLEVEL" val="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custom160428_11*l_i*1_2"/>
  <p:tag name="KSO_WM_UNIT_LAYERLEVEL" val="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LINE_FORE_SCHEMECOLOR_INDEX" val="7"/>
  <p:tag name="KSO_WM_UNIT_LINE_FILL_TYPE" val="2"/>
  <p:tag name="KSO_WM_UNIT_TEXT_FILL_FORE_SCHEMECOLOR_INDEX" val="7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BEAUTIFY_FLAG" val="#wm#"/>
  <p:tag name="MH" val="20150409143211"/>
  <p:tag name="MH_LIBRARY" val="CONTENTS"/>
  <p:tag name="MH_TYPE" val="OTHERS"/>
  <p:tag name="KSO_WM_UNIT_TYPE" val="a"/>
  <p:tag name="KSO_WM_UNIT_INDEX" val="1"/>
  <p:tag name="KSO_WM_UNIT_ID" val="custom160428_11*a*1"/>
  <p:tag name="KSO_WM_UNIT_LAYERLEVEL" val="1"/>
  <p:tag name="KSO_WM_UNIT_VALUE" val="7"/>
  <p:tag name="KSO_WM_UNIT_ISCONTENTSTITLE" val="1"/>
  <p:tag name="KSO_WM_UNIT_HIGHLIGHT" val="0"/>
  <p:tag name="KSO_WM_UNIT_COMPATIBLE" val="0"/>
  <p:tag name="KSO_WM_UNIT_PRESET_TEXT" val="CONTENTS"/>
  <p:tag name="KSO_WM_UNIT_ISNUMDGMTITLE" val="0"/>
  <p:tag name="KSO_WM_UNIT_NOCLEAR" val="0"/>
  <p:tag name="KSO_WM_UNIT_DIAGRAM_ISNUMVISUAL" val="0"/>
  <p:tag name="KSO_WM_UNIT_DIAGRAM_ISREFERUNIT" val="0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MH" val="20150409143211"/>
  <p:tag name="MH_LIBRARY" val="CONTENTS"/>
  <p:tag name="MH_AUTOCOLOR" val="TRUE"/>
  <p:tag name="MH_TYPE" val="CONTENTS"/>
  <p:tag name="KSO_WM_TEMPLATE_CATEGORY" val="custom"/>
  <p:tag name="KSO_WM_TEMPLATE_INDEX" val="160428"/>
  <p:tag name="KSO_WM_TAG_VERSION" val="1.0"/>
  <p:tag name="KSO_WM_SLIDE_ID" val="custom160428_11"/>
  <p:tag name="KSO_WM_SLIDE_INDEX" val="11"/>
  <p:tag name="KSO_WM_SLIDE_ITEM_CNT" val="6"/>
  <p:tag name="KSO_WM_SLIDE_LAYOUT" val="a_l"/>
  <p:tag name="KSO_WM_SLIDE_LAYOUT_CNT" val="1_1"/>
  <p:tag name="KSO_WM_SLIDE_TYPE" val="contents"/>
  <p:tag name="KSO_WM_BEAUTIFY_FLAG" val="#wm#"/>
  <p:tag name="KSO_WM_DIAGRAM_GROUP_CODE" val="l1-1"/>
  <p:tag name="KSO_WM_SLIDE_SUBTYPE" val="diag"/>
  <p:tag name="KSO_WM_TEMPLATE_SUBCATEGORY" val="0"/>
  <p:tag name="KSO_WM_TEMPLATE_MASTER_TYPE" val="1"/>
  <p:tag name="KSO_WM_TEMPLATE_COLOR_TYPE" val="0"/>
  <p:tag name="KSO_WM_SLIDE_DIAGTYPE" val="l"/>
</p:tagLst>
</file>

<file path=ppt/tags/tag16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bc3f722-526d-4f2a-8e81-18450d3b4630}"/>
  <p:tag name="KSO_WM_UNIT_TYPE" val="i"/>
</p:tagLst>
</file>

<file path=ppt/tags/tag16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79a81d6-9df7-44d1-97e6-f1bc21e1e9e0}"/>
  <p:tag name="KSO_WM_UNIT_TYPE" val="i"/>
</p:tagLst>
</file>

<file path=ppt/tags/tag162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63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6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bc3f722-526d-4f2a-8e81-18450d3b4630}"/>
  <p:tag name="KSO_WM_UNIT_TYPE" val="i"/>
</p:tagLst>
</file>

<file path=ppt/tags/tag16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79a81d6-9df7-44d1-97e6-f1bc21e1e9e0}"/>
  <p:tag name="KSO_WM_UNIT_TYPE" val="i"/>
</p:tagLst>
</file>

<file path=ppt/tags/tag168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69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7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bc3f722-526d-4f2a-8e81-18450d3b4630}"/>
  <p:tag name="KSO_WM_UNIT_TYPE" val="i"/>
</p:tagLst>
</file>

<file path=ppt/tags/tag1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79a81d6-9df7-44d1-97e6-f1bc21e1e9e0}"/>
  <p:tag name="KSO_WM_UNIT_TYPE" val="i"/>
</p:tagLst>
</file>

<file path=ppt/tags/tag174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75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7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7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bc3f722-526d-4f2a-8e81-18450d3b4630}"/>
  <p:tag name="KSO_WM_UNIT_TYPE" val="i"/>
</p:tagLst>
</file>

<file path=ppt/tags/tag17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79a81d6-9df7-44d1-97e6-f1bc21e1e9e0}"/>
  <p:tag name="KSO_WM_UNIT_TYPE" val="i"/>
</p:tagLst>
</file>

<file path=ppt/tags/tag180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81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3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8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bc3f722-526d-4f2a-8e81-18450d3b4630}"/>
  <p:tag name="KSO_WM_UNIT_TYPE" val="i"/>
</p:tagLst>
</file>

<file path=ppt/tags/tag18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79a81d6-9df7-44d1-97e6-f1bc21e1e9e0}"/>
  <p:tag name="KSO_WM_UNIT_TYPE" val="i"/>
</p:tagLst>
</file>

<file path=ppt/tags/tag186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87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9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9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4bc3f722-526d-4f2a-8e81-18450d3b4630}"/>
  <p:tag name="KSO_WM_UNIT_TYPE" val="i"/>
</p:tagLst>
</file>

<file path=ppt/tags/tag19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e79a81d6-9df7-44d1-97e6-f1bc21e1e9e0}"/>
  <p:tag name="KSO_WM_UNIT_TYPE" val="i"/>
</p:tagLst>
</file>

<file path=ppt/tags/tag192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1"/>
  <p:tag name="KSO_WM_UNIT_ID" val="_12*l_i*1_1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93.xml><?xml version="1.0" encoding="utf-8"?>
<p:tagLst xmlns:p="http://schemas.openxmlformats.org/presentationml/2006/main">
  <p:tag name="KSO_WM_TAG_VERSION" val="1.0"/>
  <p:tag name="KSO_WM_BEAUTIFY_FLAG" val="#wm#"/>
  <p:tag name="MH" val="20150409143211"/>
  <p:tag name="MH_LIBRARY" val="CONTENTS"/>
  <p:tag name="MH_TYPE" val="OTHERS"/>
  <p:tag name="KSO_WM_UNIT_TYPE" val="l_i"/>
  <p:tag name="KSO_WM_UNIT_INDEX" val="1_2"/>
  <p:tag name="KSO_WM_UNIT_ID" val="_12*l_i*1_2"/>
  <p:tag name="KSO_WM_UNIT_LAYERLEVEL" val="1_1"/>
  <p:tag name="KSO_WM_UNIT_HIGHLIGHT" val="0"/>
  <p:tag name="KSO_WM_UNIT_COMPATIBLE" val="0"/>
  <p:tag name="KSO_WM_UNIT_DIAGRAM_ISNUMVISUAL" val="0"/>
  <p:tag name="KSO_WM_UNIT_DIAGRAM_ISREFERUNIT" val="0"/>
  <p:tag name="KSO_WM_SLIDE_BACKGROUND_TYPE" val="general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7"/>
  <p:tag name="KSO_WM_UNIT_LINE_FILL_TYPE" val="2"/>
  <p:tag name="KSO_WM_UNIT_TEXT_FILL_FORE_SCHEMECOLOR_INDEX_BRIGHTNESS" val="0"/>
  <p:tag name="KSO_WM_UNIT_TEXT_FILL_FORE_SCHEMECOLOR_INDEX" val="7"/>
  <p:tag name="KSO_WM_UNIT_TEXT_FILL_TYPE" val="1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观看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160428_29*a*1"/>
  <p:tag name="KSO_WM_TEMPLATE_CATEGORY" val="custom"/>
  <p:tag name="KSO_WM_TEMPLATE_INDEX" val="160428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TEMPLATE_CATEGORY" val="custom"/>
  <p:tag name="KSO_WM_TEMPLATE_INDEX" val="160428"/>
  <p:tag name="KSO_WM_TAG_VERSION" val="1.0"/>
  <p:tag name="KSO_WM_SLIDE_ID" val="custom160428_29"/>
  <p:tag name="KSO_WM_SLIDE_INDEX" val="29"/>
  <p:tag name="KSO_WM_SLIDE_ITEM_CNT" val="0"/>
  <p:tag name="KSO_WM_SLIDE_TYPE" val="endPage"/>
  <p:tag name="KSO_WM_BEAUTIFY_FLAG" val="#wm#"/>
  <p:tag name="KSO_WM_SLIDE_SUBTYPE" val="pureTxt"/>
  <p:tag name="KSO_WM_TEMPLATE_SUBCATEGORY" val="0"/>
  <p:tag name="KSO_WM_TEMPLATE_MASTER_TYPE" val="1"/>
  <p:tag name="KSO_WM_TEMPLATE_COLOR_TYPE" val="0"/>
  <p:tag name="KSO_WM_SLIDE_LAYOUT" val="a"/>
  <p:tag name="KSO_WM_SLIDE_LAYOUT_CN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160428">
      <a:dk1>
        <a:srgbClr val="000000"/>
      </a:dk1>
      <a:lt1>
        <a:srgbClr val="FFFFFF"/>
      </a:lt1>
      <a:dk2>
        <a:srgbClr val="F5F8E1"/>
      </a:dk2>
      <a:lt2>
        <a:srgbClr val="FFFFFF"/>
      </a:lt2>
      <a:accent1>
        <a:srgbClr val="87A452"/>
      </a:accent1>
      <a:accent2>
        <a:srgbClr val="76AC73"/>
      </a:accent2>
      <a:accent3>
        <a:srgbClr val="63B48D"/>
      </a:accent3>
      <a:accent4>
        <a:srgbClr val="80C39E"/>
      </a:accent4>
      <a:accent5>
        <a:srgbClr val="B8D6AA"/>
      </a:accent5>
      <a:accent6>
        <a:srgbClr val="E2E8B5"/>
      </a:accent6>
      <a:hlink>
        <a:srgbClr val="009999"/>
      </a:hlink>
      <a:folHlink>
        <a:srgbClr val="99CC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WPS 演示</Application>
  <PresentationFormat/>
  <Paragraphs>93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黑体</vt:lpstr>
      <vt:lpstr>Wingdings 2</vt:lpstr>
      <vt:lpstr>幼圆</vt:lpstr>
      <vt:lpstr>Office Theme</vt:lpstr>
      <vt:lpstr>2_Office 主题​​</vt:lpstr>
      <vt:lpstr>市场推广计划</vt:lpstr>
      <vt:lpstr>PowerPoint 演示文稿</vt:lpstr>
      <vt:lpstr>1. 市场分析</vt:lpstr>
      <vt:lpstr>2. 目标受众</vt:lpstr>
      <vt:lpstr>3. 推广策略</vt:lpstr>
      <vt:lpstr>4. 实施计划</vt:lpstr>
      <vt:lpstr>5. 预算</vt:lpstr>
      <vt:lpstr>6. 结论</vt:lpstr>
      <vt:lpstr>感谢您的关注！如有任何问题，请随时提出。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市场推广计划</dc:title>
  <dc:creator/>
  <cp:lastModifiedBy>photon</cp:lastModifiedBy>
  <cp:revision>1</cp:revision>
  <dcterms:created xsi:type="dcterms:W3CDTF">2025-03-21T03:26:11Z</dcterms:created>
  <dcterms:modified xsi:type="dcterms:W3CDTF">2025-03-21T03:26:11Z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9829550B6F3E4D38A27320E6C93B1FE4</vt:lpwstr>
  </property>
  <property fmtid="{D5CDD505-2E9C-101B-9397-08002B2CF9AE}" pid="3" name="KSOProductBuildVer">
    <vt:lpwstr>2052-11.1.0.11294</vt:lpwstr>
  </property>
</Properties>
</file>